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venir Next"/>
              </a:rPr>
              <a:t>eBook Subscriber</a:t>
            </a:r>
            <a:r>
              <a:rPr sz="5400" b="1">
                <a:solidFill>
                  <a:srgbClr val="DBE1FF"/>
                </a:solidFill>
                <a:latin typeface="Avenir Next"/>
              </a:rP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63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BE1FF"/>
                </a:solidFill>
                <a:latin typeface="Avenir Next"/>
              </a:rPr>
              <a:t>Who stays, who leaves, and what to do about it — a subscriber engagement</a:t>
            </a:r>
            <a:r>
              <a:rPr sz="1600" b="0">
                <a:solidFill>
                  <a:srgbClr val="DBE1FF"/>
                </a:solidFill>
                <a:latin typeface="Avenir Next"/>
              </a:rPr>
              <a:t>
analysis with a live Streamlit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114800"/>
            <a:ext cx="2926080" cy="45720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venir Next"/>
              </a:rPr>
              <a:t>Krisha Kadam  ·  Industrial Research Project  ·  October 2026</a:t>
            </a:r>
            <a:r>
              <a:rPr sz="1200" b="0">
                <a:solidFill>
                  <a:srgbClr val="5B6285"/>
                </a:solidFill>
                <a:latin typeface="Avenir Next"/>
              </a:rPr>
              <a:t>
5,455 subscribers scored  ·  recency + logins + session minutes  ·  Python · pandas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What this project is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One project, one question — what makes an eBook subscriber stay?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4008" cy="2103120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63624"/>
            <a:ext cx="3154679" cy="18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1A1F5C"/>
                </a:solidFill>
                <a:latin typeface="Avenir Next"/>
              </a:rPr>
              <a:t>The question</a:t>
            </a:r>
            <a:r>
              <a:rPr sz="1200" b="0">
                <a:solidFill>
                  <a:srgbClr val="5B6285"/>
                </a:solidFill>
                <a:latin typeface="Avenir Next"/>
              </a:rPr>
              <a:t>
Which subscribers are still reading, which have gone quiet, and which are already gone — and what should the business do with each group?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64008" cy="2103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63624"/>
            <a:ext cx="3154679" cy="18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1A1F5C"/>
                </a:solidFill>
                <a:latin typeface="Avenir Next"/>
              </a:rPr>
              <a:t>The data</a:t>
            </a:r>
            <a:r>
              <a:rPr sz="1200" b="0">
                <a:solidFill>
                  <a:srgbClr val="5B6285"/>
                </a:solidFill>
                <a:latin typeface="Avenir Next"/>
              </a:rPr>
              <a:t>
Two files, one project: the customer file (16,404 customers, 33.2% subscribed) and the engagement file (5,455 subscribers with real reading behaviour).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64008" cy="21031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63624"/>
            <a:ext cx="3154679" cy="18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1A1F5C"/>
                </a:solidFill>
                <a:latin typeface="Avenir Next"/>
              </a:rPr>
              <a:t>The answer</a:t>
            </a:r>
            <a:r>
              <a:rPr sz="1200" b="0">
                <a:solidFill>
                  <a:srgbClr val="5B6285"/>
                </a:solidFill>
                <a:latin typeface="Avenir Next"/>
              </a:rPr>
              <a:t>
A 0–100 engagement score per subscriber, an Active / Inactive / Churned status, and a recommended strategy for each group.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11185855" cy="237744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4543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1F5C"/>
                </a:solidFill>
                <a:latin typeface="Avenir Next"/>
              </a:rPr>
              <a:t>Most subscribers are staying</a:t>
            </a:r>
            <a:r>
              <a:rPr sz="1400" b="0">
                <a:solidFill>
                  <a:srgbClr val="5B6285"/>
                </a:solidFill>
                <a:latin typeface="Avenir Next"/>
              </a:rPr>
              <a:t>
55.3% of classified subscribers are Active (logged in within 30 days). 28.0% are Inactive — quiet for 31–90 days and still win-backable. 16.6% are Churned — silent for more than 90 days.</a:t>
            </a:r>
            <a:r>
              <a:rPr sz="1250" b="1">
                <a:solidFill>
                  <a:srgbClr val="3F4DE6"/>
                </a:solidFill>
                <a:latin typeface="Avenir Next"/>
              </a:rPr>
              <a:t>
Every number in this deck comes from the dataset — nothing is simulated or invented.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How the analysis works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Five steps — every rule approved in writing before it was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07623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48430" y="1737360"/>
            <a:ext cx="585216" cy="585216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171047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Clean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Drop 45 duplicate rows, collapse 23 genre spellings into 8 genres, flag 144 median-filled rows. Recency is never invented.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4292" y="27889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DBE1FF"/>
                </a:solidFill>
                <a:latin typeface="Avenir Nex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0324" y="1508760"/>
            <a:ext cx="207623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5834" y="1737360"/>
            <a:ext cx="585216" cy="585216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3204" y="2514600"/>
            <a:ext cx="171047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Explore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Charts and correlations first — what the data shows decides what goes into the score, not the other way round.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1697" y="27889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DBE1FF"/>
                </a:solidFill>
                <a:latin typeface="Avenir Nex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7729" y="1508760"/>
            <a:ext cx="207623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3239" y="1737360"/>
            <a:ext cx="585216" cy="585216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0609" y="2514600"/>
            <a:ext cx="171047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Score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100 × (0.40 × inverted recency + 0.35 × logins + 0.25 × session minutes). Books excluded: r = 0.88 with logins.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9101" y="27889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DBE1FF"/>
                </a:solidFill>
                <a:latin typeface="Avenir Nex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5133" y="1508760"/>
            <a:ext cx="207623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80644" y="1737360"/>
            <a:ext cx="585216" cy="585216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013" y="2514600"/>
            <a:ext cx="171047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Classify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Active ≤ 30 days · Inactive 31–90 · Churned &gt; 90. 33 rows with missing recency stay Unclassified.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506" y="27889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DBE1FF"/>
                </a:solidFill>
                <a:latin typeface="Avenir Nex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2538" y="1508760"/>
            <a:ext cx="207623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58048" y="1737360"/>
            <a:ext cx="585216" cy="585216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venir Nex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418" y="2514600"/>
            <a:ext cx="171047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Act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Three strategy cards — Retain, Win back before day 90, Win-back — each tied to a finding and a literature theme.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29200"/>
            <a:ext cx="11185855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1054577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Ground rules: weights and thresholds were proposed and approved before use · every chart carries a takeaway caption · associations are reported as associations, never as causes.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The engagement score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One number per subscriber — and every ingredient visible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760720" cy="1143000"/>
          </a:xfrm>
          <a:prstGeom prst="roundRect">
            <a:avLst>
              <a:gd name="adj" fmla="val 6000"/>
            </a:avLst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venir Next"/>
              </a:rPr>
              <a:t>Score = 100 × (0.40 × inverted recency</a:t>
            </a:r>
            <a:r>
              <a:rPr sz="1800" b="1">
                <a:solidFill>
                  <a:srgbClr val="DBE1FF"/>
                </a:solidFill>
                <a:latin typeface="Avenir Next"/>
              </a:rPr>
              <a:t>
          + 0.35 × logins + 0.25 × session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F5C"/>
                </a:solidFill>
                <a:latin typeface="Avenir Next"/>
              </a:rPr>
              <a:t>Recency (days since last login)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862072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86664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venir Next"/>
              </a:rPr>
              <a:t>0.40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4553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5B6285"/>
                </a:solidFill>
                <a:latin typeface="Avenir Next"/>
              </a:rPr>
              <a:t>inverted — fewer days scores higher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8444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F5C"/>
                </a:solidFill>
                <a:latin typeface="Avenir Next"/>
              </a:rPr>
              <a:t>Average logins per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611879"/>
            <a:ext cx="2080259" cy="274320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6164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venir Next"/>
              </a:rPr>
              <a:t>0.35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95344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5B6285"/>
                </a:solidFill>
                <a:latin typeface="Avenir Next"/>
              </a:rPr>
              <a:t>how often they come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3425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F5C"/>
                </a:solidFill>
                <a:latin typeface="Avenir Next"/>
              </a:rPr>
              <a:t>Average session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4361688"/>
            <a:ext cx="1485900" cy="274320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3662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venir Next"/>
              </a:rPr>
              <a:t>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4515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5B6285"/>
                </a:solidFill>
                <a:latin typeface="Avenir Next"/>
              </a:rPr>
              <a:t>how long they stay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1417320"/>
            <a:ext cx="5166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1417320"/>
            <a:ext cx="64008" cy="17373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563624"/>
            <a:ext cx="475488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A1F5C"/>
                </a:solidFill>
                <a:latin typeface="Avenir Next"/>
              </a:rPr>
              <a:t>Why books is not in the score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Books accessed correlates r = 0.88 with logins — both measure usage frequency. Counting both would weight the same behaviour twice, so books stays descriptive (and becomes a useful independent check later).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29184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3291840"/>
            <a:ext cx="64008" cy="1417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438144"/>
            <a:ext cx="4754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A1F5C"/>
                </a:solidFill>
                <a:latin typeface="Avenir Next"/>
              </a:rPr>
              <a:t>How the score becomes a tier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Terciles — the data's own one-third and two-third marks: Low ≤ 40.80 · Medium ≤ 51.25 · High above. Equal thirds, no invented round-number cutoffs.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846320"/>
            <a:ext cx="51663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4846320"/>
            <a:ext cx="64008" cy="1234440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992624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1A1F5C"/>
                </a:solidFill>
                <a:latin typeface="Avenir Next"/>
              </a:rPr>
              <a:t>The honest caveat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Three of four inputs reappear in the behaviour charts, so part of the tier separation is by construction — the books panel is the independent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Who is Active, Inactive or Churned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Recency thresholds — approved in writing before being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185855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09728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A9D8F"/>
                </a:solidFill>
                <a:latin typeface="Avenir Next"/>
              </a:rPr>
              <a:t>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572768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A1F5C"/>
                </a:solidFill>
                <a:latin typeface="Avenir Next"/>
              </a:rPr>
              <a:t>3,001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572768"/>
            <a:ext cx="1005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5B6285"/>
                </a:solidFill>
                <a:latin typeface="Avenir Next"/>
              </a:rPr>
              <a:t>55.3%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572768"/>
            <a:ext cx="6126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Logged in within the last 30 days, at least 1 login/month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23160"/>
            <a:ext cx="11185855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109728" cy="8229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32888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9C46A"/>
                </a:solidFill>
                <a:latin typeface="Avenir Next"/>
              </a:rPr>
              <a:t>Inactive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32888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A1F5C"/>
                </a:solidFill>
                <a:latin typeface="Avenir Next"/>
              </a:rPr>
              <a:t>1,520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32888"/>
            <a:ext cx="1005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5B6285"/>
                </a:solidFill>
                <a:latin typeface="Avenir Next"/>
              </a:rPr>
              <a:t>28.0%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32888"/>
            <a:ext cx="6126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Quiet for 31–90 days (or under 30 days with zero logins)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83280"/>
            <a:ext cx="11185855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83280"/>
            <a:ext cx="10972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93008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76F51"/>
                </a:solidFill>
                <a:latin typeface="Avenir Next"/>
              </a:rPr>
              <a:t>Churned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493008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A1F5C"/>
                </a:solidFill>
                <a:latin typeface="Avenir Next"/>
              </a:rPr>
              <a:t>901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493008"/>
            <a:ext cx="1005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5B6285"/>
                </a:solidFill>
                <a:latin typeface="Avenir Next"/>
              </a:rPr>
              <a:t>16.6%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493008"/>
            <a:ext cx="6126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No activity for more than 90 days — median 152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43400"/>
            <a:ext cx="11185855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43400"/>
            <a:ext cx="109728" cy="822960"/>
          </a:xfrm>
          <a:prstGeom prst="rect">
            <a:avLst/>
          </a:prstGeom>
          <a:solidFill>
            <a:srgbClr val="5B6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53128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5B6285"/>
                </a:solidFill>
                <a:latin typeface="Avenir Next"/>
              </a:rPr>
              <a:t>Unclassified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453128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A1F5C"/>
                </a:solidFill>
                <a:latin typeface="Avenir Next"/>
              </a:rPr>
              <a:t>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453128"/>
            <a:ext cx="1005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5B6285"/>
                </a:solidFill>
                <a:latin typeface="Avenir Next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453128"/>
            <a:ext cx="6126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Recency missing or invalid — never guessed, shown separately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40680"/>
            <a:ext cx="11185855" cy="68580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559552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Status is recency-based by definition — that is why the behavioural comparisons in this deck are honest: the chart is not simply repeating the rule.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venir Next"/>
              </a:rPr>
              <a:t>The dashboard — a guided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5661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DBE1FF"/>
                </a:solidFill>
                <a:latin typeface="Avenir Next"/>
              </a:rPr>
              <a:t>7 pages · Start Here · Final Report · Explore the Data · Customer Lookup · </a:t>
            </a:r>
            <a:r>
              <a:rPr sz="1500" b="0">
                <a:solidFill>
                  <a:srgbClr val="DBE1FF"/>
                </a:solidFill>
                <a:latin typeface="Avenir Next"/>
              </a:rPr>
              <a:t>
Method and Data · Glossary · Propensity Model — every chart explains what it shows, how to read it, and what it 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1 · Start Here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Orientation page — what the project is, in plain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star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New visitors are told what the app can and cannot tell them before any chart is shown.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2 · Final Report — key numbers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The unfiltered story of all 5,455 subscribers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repor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55.3% Active · 28.0% Inactive · 16.6% Churned — the headline every stakeholder sees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2 · Final Report — status mix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The staying-versus-leaving problem, sized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repor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Most subscribers stay; the actionable middle group is the 1,520 Inactive readers.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2 · Final Report — tiers &amp; watchlist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Low / Medium / High tiers, with an early-warning 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report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11 subscribers are Active today but already Low tier — the earliest possible warning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2 · Final Report — strategy cards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One recommended strategy per status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report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Retain Active · Win back Inactive before day 90 · Win-back Churned — each tied to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3 · Explore the Data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7 filterable views of the subscriber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explor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Filters update every chart below — status, tier, genre, age, occupation, education, tenure,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Explore · Overview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Status mix and score distribution of the current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tab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Where the selected audience sits between healthy, at risk and already gone.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Explore · Behaviour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Logins, session minutes, books and recency by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tab_behavi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Behaviour — not just demographics — separates the groups: Active 11.7 logins vs Churned 1.5.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Explore · Tiers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What the Low, Medium and High tiers really look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tab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Books rise 4.1 → 9.1 → 20.2 across tiers — the independent check that the score means something.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Explore · Genre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Does what people read predict whether they stay?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tab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No — Active rates span only 52–58% across genres. A null finding, reported honestly.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Explore · Demographics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Income, occupation, age and education vs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tab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Demographic effects are real but small (d ≈ 0.2–0.3) — tailor with them, don't judge churn on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Explore · Tenure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Status mix by months since subscribing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tab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Tenure does not reliably separate churn — cross-sectional, not a retention curve.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Explore · Correlation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How the engagement metrics move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tab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Logins ↔ books r = 0.88 — the double-counting that justified excluding books from the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Demo · Filtering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Status = Churned + Occupation = Professional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filter_churned_pr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Every chart and KPI updates together — segment-specific strategies are one click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4 · Customer Lookup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One subscriber, fully explained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_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Raw values → normalised 0–1 → weighted contributions → score: the whole model in one 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5 · Method and Data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Everything needed to reproduce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_metho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Data profile, cleaning rules, weights and thresholds — the anti-black-box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6 · Glossary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Every technical term in plain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_glossary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Recency, tercile, correlation, p-value, effect size — each with an everyday example.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Page 7 · Propensity Model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The original customer-file model: who is likely to subscribe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6787" y="1266444"/>
            <a:ext cx="7818120" cy="49103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5_phase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98448"/>
            <a:ext cx="775411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98464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A1F5C"/>
                </a:solidFill>
                <a:latin typeface="Avenir Next"/>
              </a:rPr>
              <a:t>Takeaway:  </a:t>
            </a:r>
            <a:r>
              <a:rPr sz="1100" b="0">
                <a:solidFill>
                  <a:srgbClr val="5B6285"/>
                </a:solidFill>
                <a:latin typeface="Avenir Next"/>
              </a:rPr>
              <a:t>The first dataset's view — demographic propensity scoring and six customer segments.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What the data says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Four findings that survive the honest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4008" cy="20574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63624"/>
            <a:ext cx="5074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The behaviour gap is large</a:t>
            </a:r>
            <a:r>
              <a:rPr sz="1200" b="0">
                <a:solidFill>
                  <a:srgbClr val="5B6285"/>
                </a:solidFill>
                <a:latin typeface="Avenir Next"/>
              </a:rPr>
              <a:t>
Active subscribers average 11.69 logins and 29.1 session minutes a month; Churned average 1.54 and 14.2 — a 7.6× gap in visits. Median last activity: 5 days vs 152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64008" cy="2057400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63624"/>
            <a:ext cx="5074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The score passes an independent test</a:t>
            </a:r>
            <a:r>
              <a:rPr sz="1200" b="0">
                <a:solidFill>
                  <a:srgbClr val="5B6285"/>
                </a:solidFill>
                <a:latin typeface="Avenir Next"/>
              </a:rPr>
              <a:t>
Books and tenure are not score inputs, yet books rise 4.1 → 9.1 → 20.2 across tiers — the score tracks real behaviour, not just its own ingredients.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64008" cy="20574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5074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Demographics help, but only a little</a:t>
            </a:r>
            <a:r>
              <a:rPr sz="1200" b="0">
                <a:solidFill>
                  <a:srgbClr val="5B6285"/>
                </a:solidFill>
                <a:latin typeface="Avenir Next"/>
              </a:rPr>
              <a:t>
High-value subscribers earn ~$99.8k vs $90.3k and spend $94.1 vs $83.5 a month — significant, but small effects (d ≈ 0.2–0.3).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64008" cy="20574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03904"/>
            <a:ext cx="5074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1F5C"/>
                </a:solidFill>
                <a:latin typeface="Avenir Next"/>
              </a:rPr>
              <a:t>Genre and tenure do not predict churn</a:t>
            </a:r>
            <a:r>
              <a:rPr sz="1200" b="0">
                <a:solidFill>
                  <a:srgbClr val="5B6285"/>
                </a:solidFill>
                <a:latin typeface="Avenir Next"/>
              </a:rPr>
              <a:t>
Active rates span only 52–58% across genres and churn rates are non-monotone across tenure bands — null findings reported as such.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43600"/>
            <a:ext cx="11185855" cy="502920"/>
          </a:xfrm>
          <a:prstGeom prst="roundRect">
            <a:avLst>
              <a:gd name="adj" fmla="val 14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16752"/>
            <a:ext cx="105457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285"/>
                </a:solidFill>
                <a:latin typeface="Avenir Next"/>
              </a:rPr>
              <a:t>All associations — strongest in this dataset, not proven causes. 9 tests run; Bonferroni-corrected bar 0.0056; the Fantasy-genre gap does not survive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venir Next"/>
              </a:rPr>
              <a:t>What to do about it</a:t>
            </a:r>
            <a:r>
              <a:rPr sz="1250" b="0">
                <a:solidFill>
                  <a:srgbClr val="DBE1FF"/>
                </a:solidFill>
                <a:latin typeface="Avenir Next"/>
              </a:rPr>
              <a:t>
Three strategies — each tied to a finding and a literature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566160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1A1F5C"/>
                </a:solidFill>
                <a:latin typeface="Avenir Next"/>
              </a:rPr>
              <a:t>Retain</a:t>
            </a:r>
            <a:r>
              <a:rPr sz="1300" b="1">
                <a:solidFill>
                  <a:srgbClr val="2A9D8F"/>
                </a:solidFill>
                <a:latin typeface="Avenir Next"/>
              </a:rPr>
              <a:t>
3,001 Active · 55.3%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Keep the habit going: personalised recommendations built on each reader's own genre and history — the high-value group (1,803) is the priority.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128016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1A1F5C"/>
                </a:solidFill>
                <a:latin typeface="Avenir Next"/>
              </a:rPr>
              <a:t>Win back before day 90</a:t>
            </a:r>
            <a:r>
              <a:rPr sz="1300" b="1">
                <a:solidFill>
                  <a:srgbClr val="E9C46A"/>
                </a:solidFill>
                <a:latin typeface="Avenir Next"/>
              </a:rPr>
              <a:t>
1,520 Inactive · 28.0%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Trigger a message the day a reader passes 30 days of silence (early warning signs), send 'pick up where you left off' nudges — they still average 3.3 logins.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6304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63040"/>
            <a:ext cx="3566160" cy="12801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1A1F5C"/>
                </a:solidFill>
                <a:latin typeface="Avenir Next"/>
              </a:rPr>
              <a:t>Win-back</a:t>
            </a:r>
            <a:r>
              <a:rPr sz="1300" b="1">
                <a:solidFill>
                  <a:srgbClr val="E76F51"/>
                </a:solidFill>
                <a:latin typeface="Avenir Next"/>
              </a:rPr>
              <a:t>
901 Churned · 16.6%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8036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B6285"/>
                </a:solidFill>
                <a:latin typeface="Avenir Next"/>
              </a:rPr>
              <a:t>Sequences keyed to declining login frequency; all 901 sit in the Low tier — intervene before day 90 for anyone sliding toward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77840"/>
            <a:ext cx="11185855" cy="64008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2700">
            <a:solidFill>
              <a:srgbClr val="DB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69280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285"/>
                </a:solidFill>
                <a:latin typeface="Avenir Next"/>
              </a:rPr>
              <a:t>Themes from the literature: declining login frequency · early warning signs · personalised recommendations · relevant communication · segment-specific strategies.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F4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85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venir Next"/>
              </a:rPr>
              <a:t>What this analysis does not claim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1801368"/>
            <a:ext cx="118872" cy="118872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DBE1FF"/>
                </a:solidFill>
                <a:latin typeface="Avenir Next"/>
              </a:rPr>
              <a:t>Association, not causation — nothing here shows that acting on a factor will change status.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368296"/>
            <a:ext cx="118872" cy="118872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5856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DBE1FF"/>
                </a:solidFill>
                <a:latin typeface="Avenir Next"/>
              </a:rPr>
              <a:t>No cancellation reasons — we show who leaves and when, never why.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935224"/>
            <a:ext cx="118872" cy="118872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82549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DBE1FF"/>
                </a:solidFill>
                <a:latin typeface="Avenir Next"/>
              </a:rPr>
              <a:t>No cancellation dates — the tenure view is a cross-section, not a retention curve.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502152"/>
            <a:ext cx="118872" cy="118872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392424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DBE1FF"/>
                </a:solidFill>
                <a:latin typeface="Avenir Next"/>
              </a:rPr>
              <a:t>Status is recency-based by definition; behavioural comparisons account for that.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069080"/>
            <a:ext cx="118872" cy="118872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95935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DBE1FF"/>
                </a:solidFill>
                <a:latin typeface="Avenir Next"/>
              </a:rPr>
              <a:t>Only the single most-read genre per subscriber is recorded.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636008"/>
            <a:ext cx="118872" cy="118872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DBE1FF"/>
                </a:solidFill>
                <a:latin typeface="Avenir Next"/>
              </a:rPr>
              <a:t>The dataset is synthetic — conclusions illustrate method, not market claims.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5202936"/>
            <a:ext cx="118872" cy="118872"/>
          </a:xfrm>
          <a:prstGeom prst="ellipse">
            <a:avLst/>
          </a:prstGeom>
          <a:solidFill>
            <a:srgbClr val="3F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09320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DBE1FF"/>
                </a:solidFill>
                <a:latin typeface="Avenir Next"/>
              </a:rPr>
              <a:t>33 rows with missing recency stay Unclassified — never imputed, shown separately.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venir Next"/>
              </a:rPr>
              <a:t>Thank you  ·  Questions welcome</a:t>
            </a:r>
            <a:r>
              <a:rPr sz="1150" b="0">
                <a:solidFill>
                  <a:srgbClr val="5B6285"/>
                </a:solidFill>
                <a:latin typeface="Avenir Next"/>
              </a:rPr>
              <a:t>
Live dashboard · final_report.html (offline) · methodology, watchlist and all charts in outputs/v2/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eBook Subscriber Intelligence  ·  K. Kadam  · 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B6285"/>
                </a:solidFill>
                <a:latin typeface="Avenir Next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