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view" id="{e80869fb-a930-b89b-3701-43877cb5a09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F5C"/>
                </a:solidFill>
                <a:latin typeface="+mn-lt"/>
              </a:rPr>
              <a:t>Subscriber status (5,422 classified)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8449"/>
              </a:solidFill>
              <a:effectLst/>
            </c:spPr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</c:dPt>
          <c:dPt>
            <c:idx val="2"/>
            <c:bubble3D val="0"/>
            <c:spPr>
              <a:solidFill>
                <a:srgbClr val="E548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Active</c:v>
                </c:pt>
                <c:pt idx="1">
                  <c:v>Inactive</c:v>
                </c:pt>
                <c:pt idx="2">
                  <c:v>Churned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3001</c:v>
                </c:pt>
                <c:pt idx="1">
                  <c:v>1520</c:v>
                </c:pt>
                <c:pt idx="2">
                  <c:v>901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4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3F4DE6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1F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097280"/>
            <a:ext cx="5029200" cy="5029200"/>
          </a:xfrm>
          <a:prstGeom prst="ellipse">
            <a:avLst/>
          </a:prstGeom>
          <a:solidFill>
            <a:srgbClr val="3F4DE6"/>
          </a:solidFill>
          <a:ln w="12700">
            <a:solidFill>
              <a:srgbClr val="3F4D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023360"/>
            <a:ext cx="3474720" cy="347472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846320"/>
            <a:ext cx="2926080" cy="2926080"/>
          </a:xfrm>
          <a:prstGeom prst="ellipse">
            <a:avLst/>
          </a:prstGeom>
          <a:solidFill>
            <a:srgbClr val="7C8CFF"/>
          </a:solidFill>
          <a:ln w="12700">
            <a:solidFill>
              <a:srgbClr val="7C8C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B4FC"/>
                </a:solidFill>
              </a:rPr>
              <a:t>INDUSTRIAL RESEARCH PROJECT  |  REVIEW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eBook Subscriber Insights using EDA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BE1FF"/>
                </a:solidFill>
              </a:rPr>
              <a:t>Who is staying, who is leaving, and what to do about each group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Our project in two phases</a:t>
            </a:r>
            <a:endParaRPr lang="en-US" sz="3000" dirty="0"/>
          </a:p>
        </p:txBody>
      </p:sp>
      <p:sp>
        <p:nvSpPr>
          <p:cNvPr id="3" name="card Phase 1: Propensity"/>
          <p:cNvSpPr/>
          <p:nvPr/>
        </p:nvSpPr>
        <p:spPr>
          <a:xfrm>
            <a:off x="548640" y="13716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3F4DE6"/>
          </a:solidFill>
          <a:ln w="12700">
            <a:solidFill>
              <a:srgbClr val="3F4D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Phase 1: Propensity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84832"/>
            <a:ext cx="4754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Customer file: 16,404 unique customers, 33.2% subscribe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Question: who subscribes?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Built: propensity score + 4 profile segments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Limit: no usage data, so Active vs Churned could not be defined</a:t>
            </a:r>
            <a:endParaRPr lang="en-US" sz="1700" dirty="0"/>
          </a:p>
        </p:txBody>
      </p:sp>
      <p:sp>
        <p:nvSpPr>
          <p:cNvPr id="7" name="card Phase 2: Engagement"/>
          <p:cNvSpPr/>
          <p:nvPr/>
        </p:nvSpPr>
        <p:spPr>
          <a:xfrm>
            <a:off x="6428232" y="13716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56832" y="15361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Phase 2: Engagement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56832" y="2084832"/>
            <a:ext cx="4754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56832" y="21031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Adds engagement file: 5,455 subscribers (logins, sessions, books, recency, genre, tenure)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Question: who stays and who leaves?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Built: engagement score + Active / Inactive / Churned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Joined to demographics for the profile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779008" y="2880360"/>
            <a:ext cx="621792" cy="548640"/>
          </a:xfrm>
          <a:prstGeom prst="rightArrow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A1F5C"/>
          </a:solidFill>
          <a:ln w="12700">
            <a:solidFill>
              <a:srgbClr val="1A1F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Overall: Phase 1 finds who subscribes  →  Phase 2 finds who stays or leaves  →  recommended action for each group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we prepared the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3F4DE6"/>
          </a:solidFill>
          <a:ln w="12700">
            <a:solidFill>
              <a:srgbClr val="3F4D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16,404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Unique customers (from 16,519; 115 duplicate IDs removed)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481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5,455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031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Unique subscribers with engagement data (from 5,500; 45 duplicates removed)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481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1031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Engagement IDs matched to subscribers in the customer file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1371600"/>
            <a:ext cx="2587752" cy="1325880"/>
          </a:xfrm>
          <a:prstGeom prst="roundRect">
            <a:avLst>
              <a:gd name="adj" fmla="val 8276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48132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F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1031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5C"/>
                </a:solidFill>
              </a:rPr>
              <a:t>Unclassified: recency missing, never guessed</a:t>
            </a:r>
            <a:endParaRPr lang="en-US" sz="1250" dirty="0"/>
          </a:p>
        </p:txBody>
      </p:sp>
      <p:sp>
        <p:nvSpPr>
          <p:cNvPr id="15" name="card Customer file fixes"/>
          <p:cNvSpPr/>
          <p:nvPr/>
        </p:nvSpPr>
        <p:spPr>
          <a:xfrm>
            <a:off x="548640" y="297180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1A1F5C"/>
          </a:solidFill>
          <a:ln w="12700">
            <a:solidFill>
              <a:srgbClr val="1A1F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1363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Customer file fixes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685032"/>
            <a:ext cx="49834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70332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Birth-date century corrected, age computed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City / zip / state split into fields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Names and street addresses dropped (privacy)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Age groups and income bands created</a:t>
            </a:r>
            <a:endParaRPr lang="en-US" sz="1600" dirty="0"/>
          </a:p>
        </p:txBody>
      </p:sp>
      <p:sp>
        <p:nvSpPr>
          <p:cNvPr id="19" name="card Engagement file fixes"/>
          <p:cNvSpPr/>
          <p:nvPr/>
        </p:nvSpPr>
        <p:spPr>
          <a:xfrm>
            <a:off x="6199632" y="297180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7C8CFF"/>
          </a:solidFill>
          <a:ln w="12700">
            <a:solidFill>
              <a:srgbClr val="7C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28232" y="31363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Engagement file fixes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3685032"/>
            <a:ext cx="49834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70332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26 genre spellings merged into 8 genres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Impossible values blanked (negative days, 600+ minute sessions)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Recency capped at 365 days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Blank logins, sessions, books filled with the median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Zero-login subscribers kept: they are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we score and classify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Engagement score (0 to 100)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Recency (fresh = high)  40%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256032"/>
          </a:xfrm>
          <a:prstGeom prst="roundRect">
            <a:avLst>
              <a:gd name="adj" fmla="val 35714"/>
            </a:avLst>
          </a:prstGeom>
          <a:solidFill>
            <a:srgbClr val="DBE1FF"/>
          </a:solidFill>
          <a:ln w="12700">
            <a:solidFill>
              <a:srgbClr val="DBE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48840"/>
            <a:ext cx="5394960" cy="256032"/>
          </a:xfrm>
          <a:prstGeom prst="roundRect">
            <a:avLst>
              <a:gd name="adj" fmla="val 35714"/>
            </a:avLst>
          </a:prstGeom>
          <a:solidFill>
            <a:srgbClr val="3F4DE6"/>
          </a:solidFill>
          <a:ln w="12700">
            <a:solidFill>
              <a:srgbClr val="3F4D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06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Logins per month  35%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5394960" cy="256032"/>
          </a:xfrm>
          <a:prstGeom prst="roundRect">
            <a:avLst>
              <a:gd name="adj" fmla="val 35714"/>
            </a:avLst>
          </a:prstGeom>
          <a:solidFill>
            <a:srgbClr val="DBE1FF"/>
          </a:solidFill>
          <a:ln w="12700">
            <a:solidFill>
              <a:srgbClr val="DBE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926080"/>
            <a:ext cx="4720590" cy="256032"/>
          </a:xfrm>
          <a:prstGeom prst="roundRect">
            <a:avLst>
              <a:gd name="adj" fmla="val 35714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83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Session minutes  25%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394960" cy="256032"/>
          </a:xfrm>
          <a:prstGeom prst="roundRect">
            <a:avLst>
              <a:gd name="adj" fmla="val 35714"/>
            </a:avLst>
          </a:prstGeom>
          <a:solidFill>
            <a:srgbClr val="DBE1FF"/>
          </a:solidFill>
          <a:ln w="12700">
            <a:solidFill>
              <a:srgbClr val="DBE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703320"/>
            <a:ext cx="3371850" cy="256032"/>
          </a:xfrm>
          <a:prstGeom prst="roundRect">
            <a:avLst>
              <a:gd name="adj" fmla="val 35714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29768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input scaled 0 to 1 (min-max); recency flipped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Books accessed left out: r = 0.88 with logins, so it would double-count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Low / Medium / High = equal thirds of the score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Status rules (written before computing)</a:t>
            </a:r>
            <a:endParaRPr lang="en-US" sz="1800" dirty="0"/>
          </a:p>
        </p:txBody>
      </p:sp>
      <p:sp>
        <p:nvSpPr>
          <p:cNvPr id="15" name="card Active"/>
          <p:cNvSpPr/>
          <p:nvPr/>
        </p:nvSpPr>
        <p:spPr>
          <a:xfrm>
            <a:off x="6400800" y="1783080"/>
            <a:ext cx="5239512" cy="1234440"/>
          </a:xfrm>
          <a:prstGeom prst="roundRect">
            <a:avLst>
              <a:gd name="adj" fmla="val 8889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29400" y="194767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Active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496312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30 days or fewer since last activity and at least 1 login a month</a:t>
            </a:r>
            <a:endParaRPr lang="en-US" sz="1400" dirty="0"/>
          </a:p>
        </p:txBody>
      </p:sp>
      <p:sp>
        <p:nvSpPr>
          <p:cNvPr id="18" name="card Inactive"/>
          <p:cNvSpPr/>
          <p:nvPr/>
        </p:nvSpPr>
        <p:spPr>
          <a:xfrm>
            <a:off x="6400800" y="3154680"/>
            <a:ext cx="5239512" cy="1234440"/>
          </a:xfrm>
          <a:prstGeom prst="roundRect">
            <a:avLst>
              <a:gd name="adj" fmla="val 8889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331927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Inactive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867912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31 to 90 days since last activity</a:t>
            </a:r>
            <a:endParaRPr lang="en-US" sz="1400" dirty="0"/>
          </a:p>
        </p:txBody>
      </p:sp>
      <p:sp>
        <p:nvSpPr>
          <p:cNvPr id="21" name="card Churned"/>
          <p:cNvSpPr/>
          <p:nvPr/>
        </p:nvSpPr>
        <p:spPr>
          <a:xfrm>
            <a:off x="6400800" y="4526280"/>
            <a:ext cx="5239512" cy="1234440"/>
          </a:xfrm>
          <a:prstGeom prst="roundRect">
            <a:avLst>
              <a:gd name="adj" fmla="val 8889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469087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Churned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5239512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More than 90 days since last activity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5897880"/>
            <a:ext cx="5239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tx1"/>
                </a:solidFill>
              </a:rPr>
              <a:t>Status uses recency only; the score ranks engagement afterwards.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found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8016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217920" y="1371600"/>
            <a:ext cx="5422392" cy="1325880"/>
          </a:xfrm>
          <a:prstGeom prst="roundRect">
            <a:avLst>
              <a:gd name="adj" fmla="val 8276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481328"/>
            <a:ext cx="5056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11.7 vs 1.5 logins/mo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103120"/>
            <a:ext cx="5056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Active vs Churned subscribers. Logins are not part of the status rule, so this gap is independent evidence.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17920" y="2834640"/>
            <a:ext cx="5422392" cy="1325880"/>
          </a:xfrm>
          <a:prstGeom prst="roundRect">
            <a:avLst>
              <a:gd name="adj" fmla="val 8276"/>
            </a:avLst>
          </a:prstGeom>
          <a:solidFill>
            <a:srgbClr val="3F4DE6"/>
          </a:solidFill>
          <a:ln w="12700">
            <a:solidFill>
              <a:srgbClr val="3F4D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944368"/>
            <a:ext cx="5056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/ 58 / 152 days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3566160"/>
            <a:ext cx="5056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Median days since last activity: Active / Inactive / Churned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4297680"/>
            <a:ext cx="5422392" cy="1325880"/>
          </a:xfrm>
          <a:prstGeom prst="roundRect">
            <a:avLst>
              <a:gd name="adj" fmla="val 8276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4407408"/>
            <a:ext cx="5056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4.2 → 9.1 → 20.3 books</a:t>
            </a:r>
            <a:endParaRPr lang="en-US" sz="2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5029200"/>
            <a:ext cx="5056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Low → Medium → High tier. Books are not a score input, so this checks the score.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5806440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tx1"/>
                </a:solidFill>
              </a:rPr>
              <a:t>Caution: tiers and status both use recency, so their agreement is partly built in.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Who is high-value, and what to do</a:t>
            </a:r>
            <a:endParaRPr lang="en-US" sz="3000" dirty="0"/>
          </a:p>
        </p:txBody>
      </p:sp>
      <p:sp>
        <p:nvSpPr>
          <p:cNvPr id="3" name="card Active high-value vs Churned"/>
          <p:cNvSpPr/>
          <p:nvPr/>
        </p:nvSpPr>
        <p:spPr>
          <a:xfrm>
            <a:off x="548640" y="1371600"/>
            <a:ext cx="5029200" cy="2926080"/>
          </a:xfrm>
          <a:prstGeom prst="roundRect">
            <a:avLst>
              <a:gd name="adj" fmla="val 3750"/>
            </a:avLst>
          </a:prstGeom>
          <a:solidFill>
            <a:srgbClr val="1A1F5C"/>
          </a:solidFill>
          <a:ln w="12700">
            <a:solidFill>
              <a:srgbClr val="1A1F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Active high-value vs Churned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84832"/>
            <a:ext cx="4572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Monthly spend: $94 vs $83 (largest gap)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Income: $99.8k vs $90.3k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Children at home: 2.1 vs 1.7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All gaps are small (Cohen's d about 0.2 to 0.3): associations only</a:t>
            </a:r>
            <a:endParaRPr lang="en-US" sz="1600" dirty="0"/>
          </a:p>
        </p:txBody>
      </p:sp>
      <p:sp>
        <p:nvSpPr>
          <p:cNvPr id="7" name="card No difference found"/>
          <p:cNvSpPr/>
          <p:nvPr/>
        </p:nvSpPr>
        <p:spPr>
          <a:xfrm>
            <a:off x="548640" y="4480560"/>
            <a:ext cx="5029200" cy="1691640"/>
          </a:xfrm>
          <a:prstGeom prst="roundRect">
            <a:avLst>
              <a:gd name="adj" fmla="val 6486"/>
            </a:avLst>
          </a:prstGeom>
          <a:solidFill>
            <a:srgbClr val="7C8CFF"/>
          </a:solidFill>
          <a:ln w="12700">
            <a:solidFill>
              <a:srgbClr val="7C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6451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 difference found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1937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1663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Genre and tenure do not separate Active from Churned. Long-time subscribers are not safer from churn.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Recommended actions (draft)</a:t>
            </a:r>
            <a:endParaRPr lang="en-US" sz="1800" dirty="0"/>
          </a:p>
        </p:txBody>
      </p:sp>
      <p:sp>
        <p:nvSpPr>
          <p:cNvPr id="12" name="card Active: keep them engaged"/>
          <p:cNvSpPr/>
          <p:nvPr/>
        </p:nvSpPr>
        <p:spPr>
          <a:xfrm>
            <a:off x="5943600" y="1783080"/>
            <a:ext cx="5696712" cy="1371600"/>
          </a:xfrm>
          <a:prstGeom prst="roundRect">
            <a:avLst>
              <a:gd name="adj" fmla="val 8000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1947672"/>
            <a:ext cx="5239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Active: keep them engaged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496312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Watch the 11 Active subscribers sitting in the Low tier as an early-warning group</a:t>
            </a:r>
            <a:endParaRPr lang="en-US" sz="1400" dirty="0"/>
          </a:p>
        </p:txBody>
      </p:sp>
      <p:sp>
        <p:nvSpPr>
          <p:cNvPr id="15" name="card Inactive: win back before day 90"/>
          <p:cNvSpPr/>
          <p:nvPr/>
        </p:nvSpPr>
        <p:spPr>
          <a:xfrm>
            <a:off x="5943600" y="3291840"/>
            <a:ext cx="5696712" cy="1371600"/>
          </a:xfrm>
          <a:prstGeom prst="roundRect">
            <a:avLst>
              <a:gd name="adj" fmla="val 8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3456432"/>
            <a:ext cx="5239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Inactive: win back before day 90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005072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Nudge near day 30 with personalised book picks and new releases</a:t>
            </a:r>
            <a:endParaRPr lang="en-US" sz="1400" dirty="0"/>
          </a:p>
        </p:txBody>
      </p:sp>
      <p:sp>
        <p:nvSpPr>
          <p:cNvPr id="18" name="card Churned: win-back campaign"/>
          <p:cNvSpPr/>
          <p:nvPr/>
        </p:nvSpPr>
        <p:spPr>
          <a:xfrm>
            <a:off x="5943600" y="4800600"/>
            <a:ext cx="5696712" cy="1371600"/>
          </a:xfrm>
          <a:prstGeom prst="roundRect">
            <a:avLst>
              <a:gd name="adj" fmla="val 8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72200" y="4965192"/>
            <a:ext cx="5239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Churned: win-back campaign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5513832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Relevant, timely message; test offers by segment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Limitations and next steps</a:t>
            </a:r>
            <a:endParaRPr lang="en-US" sz="3000" dirty="0"/>
          </a:p>
        </p:txBody>
      </p:sp>
      <p:sp>
        <p:nvSpPr>
          <p:cNvPr id="3" name="card Be honest about limits"/>
          <p:cNvSpPr/>
          <p:nvPr/>
        </p:nvSpPr>
        <p:spPr>
          <a:xfrm>
            <a:off x="548640" y="1371600"/>
            <a:ext cx="5440680" cy="4754880"/>
          </a:xfrm>
          <a:prstGeom prst="roundRect">
            <a:avLst>
              <a:gd name="adj" fmla="val 2308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 honest about limits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84832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Shows who leaves, not why: no cancellation reasons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Associations, not causes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Status is recency-based by definition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No cancellation dates, so no true retention curves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Only the most-read genre, so content diversity untested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Synthetic dataset; 33 Unclassified rows</a:t>
            </a:r>
            <a:endParaRPr lang="en-US" sz="1900" dirty="0"/>
          </a:p>
        </p:txBody>
      </p:sp>
      <p:sp>
        <p:nvSpPr>
          <p:cNvPr id="7" name="card Next steps"/>
          <p:cNvSpPr/>
          <p:nvPr/>
        </p:nvSpPr>
        <p:spPr>
          <a:xfrm>
            <a:off x="6199632" y="1371600"/>
            <a:ext cx="5440680" cy="4754880"/>
          </a:xfrm>
          <a:prstGeom prst="roundRect">
            <a:avLst>
              <a:gd name="adj" fmla="val 2308"/>
            </a:avLst>
          </a:prstGeom>
          <a:solidFill>
            <a:srgbClr val="3F4DE6"/>
          </a:solidFill>
          <a:ln w="12700">
            <a:solidFill>
              <a:srgbClr val="3F4D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28232" y="15361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Next steps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428232" y="2084832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210312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Live demo: dashboard with Final Report page and customer lookup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Validate on real engagement data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Add cancellation dates to build true retention curves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Pilot the strategies and measure the effect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C8C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view">
  <a:themeElements>
    <a:clrScheme name="Review">
      <a:dk1>
        <a:srgbClr val="1A1F5C"/>
      </a:dk1>
      <a:lt1>
        <a:srgbClr val="FFFFFF"/>
      </a:lt1>
      <a:dk2>
        <a:srgbClr val="1A1F5C"/>
      </a:dk2>
      <a:lt2>
        <a:srgbClr val="F4F6FF"/>
      </a:lt2>
      <a:accent1>
        <a:srgbClr val="3F4DE6"/>
      </a:accent1>
      <a:accent2>
        <a:srgbClr val="1E8449"/>
      </a:accent2>
      <a:accent3>
        <a:srgbClr val="F5A623"/>
      </a:accent3>
      <a:accent4>
        <a:srgbClr val="E5484D"/>
      </a:accent4>
      <a:accent5>
        <a:srgbClr val="7C8CFF"/>
      </a:accent5>
      <a:accent6>
        <a:srgbClr val="FF7A59"/>
      </a:accent6>
      <a:hlink>
        <a:srgbClr val="3F4DE6"/>
      </a:hlink>
      <a:folHlink>
        <a:srgbClr val="7C8CFF"/>
      </a:folHlink>
    </a:clrScheme>
    <a:fontScheme name="Review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2026-10-24T01:59:50Z</dcterms:created>
  <dcterms:modified xsi:type="dcterms:W3CDTF">2026-10-24T01:59:50Z</dcterms:modified>
</cp:coreProperties>
</file>